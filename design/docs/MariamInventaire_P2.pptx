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1" r:id="rId6"/>
    <p:sldId id="259" r:id="rId7"/>
    <p:sldId id="266" r:id="rId8"/>
    <p:sldId id="260" r:id="rId9"/>
    <p:sldId id="263" r:id="rId10"/>
    <p:sldId id="268" r:id="rId11"/>
    <p:sldId id="264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264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0178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93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80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5538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362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43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47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65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8910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460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684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4CBE7-137C-4439-A0A2-5FC085470CFF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B318D-28A4-4DF0-88AE-8F532FEE51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14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34462" y="1664676"/>
            <a:ext cx="11599984" cy="2731477"/>
          </a:xfrm>
        </p:spPr>
        <p:txBody>
          <a:bodyPr>
            <a:noAutofit/>
          </a:bodyPr>
          <a:lstStyle/>
          <a:p>
            <a:r>
              <a:rPr lang="fr-FR" sz="5800" b="1" u="sng" dirty="0">
                <a:solidFill>
                  <a:srgbClr val="FF0000"/>
                </a:solidFill>
              </a:rPr>
              <a:t>Production ReadOut P2-Basket</a:t>
            </a:r>
          </a:p>
          <a:p>
            <a:r>
              <a:rPr lang="fr-FR" sz="5800" b="1" u="sng" dirty="0">
                <a:solidFill>
                  <a:srgbClr val="FF0000"/>
                </a:solidFill>
              </a:rPr>
              <a:t>(610x550mm²) </a:t>
            </a:r>
          </a:p>
          <a:p>
            <a:r>
              <a:rPr lang="fr-FR" sz="5800" b="1" u="sng" dirty="0">
                <a:solidFill>
                  <a:srgbClr val="FF0000"/>
                </a:solidFill>
              </a:rPr>
              <a:t>2024-2025</a:t>
            </a:r>
          </a:p>
          <a:p>
            <a:endParaRPr lang="fr-FR" sz="58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219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4785" y="48601"/>
            <a:ext cx="11353800" cy="1325563"/>
          </a:xfrm>
        </p:spPr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IBE-ELECTRONICS ( Société CHINE- Usine Chine)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2752" y="2137241"/>
            <a:ext cx="11617569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/>
              <a:t>Demande READOUT FLEX-Lot 1: Commande n° 4001044268</a:t>
            </a:r>
          </a:p>
          <a:p>
            <a:endParaRPr lang="fr-FR" b="1" u="sng" dirty="0"/>
          </a:p>
          <a:p>
            <a:pPr marL="742950" lvl="1" indent="-285750">
              <a:buFontTx/>
              <a:buChar char="-"/>
            </a:pPr>
            <a:r>
              <a:rPr lang="fr-FR" dirty="0"/>
              <a:t>Livraison: Juin 2024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Quantité: 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 err="1"/>
              <a:t>Polyimide</a:t>
            </a:r>
            <a:r>
              <a:rPr lang="fr-FR" dirty="0"/>
              <a:t> 50µm type Dupont </a:t>
            </a:r>
            <a:r>
              <a:rPr lang="fr-FR" dirty="0" err="1"/>
              <a:t>Pyralux</a:t>
            </a:r>
            <a:r>
              <a:rPr lang="fr-FR" dirty="0"/>
              <a:t> AP 8525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de base: 18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finie Top/Bot: 28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OSP 345 nm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ENIG Pad- </a:t>
            </a:r>
            <a:r>
              <a:rPr lang="fr-FR" dirty="0" err="1"/>
              <a:t>Hirose</a:t>
            </a:r>
            <a:r>
              <a:rPr lang="fr-FR" dirty="0"/>
              <a:t> Connecteur ??</a:t>
            </a:r>
          </a:p>
          <a:p>
            <a:endParaRPr lang="fr-FR" b="1" u="sng" dirty="0"/>
          </a:p>
          <a:p>
            <a:r>
              <a:rPr lang="fr-FR" b="1" u="sng" dirty="0"/>
              <a:t>Résultat: </a:t>
            </a:r>
          </a:p>
          <a:p>
            <a:r>
              <a:rPr lang="fr-FR" dirty="0"/>
              <a:t>	- Présence de plis +++ à cause de la grande taille et de la faible épaisseur du </a:t>
            </a:r>
            <a:r>
              <a:rPr lang="fr-FR" dirty="0" err="1"/>
              <a:t>polyimide</a:t>
            </a:r>
            <a:endParaRPr lang="fr-FR" dirty="0"/>
          </a:p>
          <a:p>
            <a:r>
              <a:rPr lang="fr-FR" dirty="0"/>
              <a:t>	- Flex délicat à manipuler pour le </a:t>
            </a:r>
            <a:r>
              <a:rPr lang="fr-FR" dirty="0" err="1"/>
              <a:t>process</a:t>
            </a:r>
            <a:r>
              <a:rPr lang="fr-FR" dirty="0"/>
              <a:t> </a:t>
            </a:r>
            <a:r>
              <a:rPr lang="fr-FR" dirty="0" err="1"/>
              <a:t>bulk</a:t>
            </a:r>
            <a:r>
              <a:rPr lang="fr-FR" dirty="0"/>
              <a:t>: augmentation de plis</a:t>
            </a:r>
          </a:p>
          <a:p>
            <a:r>
              <a:rPr lang="fr-FR" dirty="0"/>
              <a:t>	- Finition OSP non retiré chimiquement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52752" y="1294027"/>
            <a:ext cx="11617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Demande initiale BUTTON PLATING : </a:t>
            </a:r>
            <a:r>
              <a:rPr lang="fr-FR" dirty="0">
                <a:solidFill>
                  <a:srgbClr val="FF0000"/>
                </a:solidFill>
              </a:rPr>
              <a:t>REFUSEE!</a:t>
            </a:r>
          </a:p>
        </p:txBody>
      </p:sp>
    </p:spTree>
    <p:extLst>
      <p:ext uri="{BB962C8B-B14F-4D97-AF65-F5344CB8AC3E}">
        <p14:creationId xmlns:p14="http://schemas.microsoft.com/office/powerpoint/2010/main" val="26055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4785" y="48601"/>
            <a:ext cx="11353800" cy="1325563"/>
          </a:xfrm>
        </p:spPr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IBE-ELECTRONICS ( Société CHINE- Usine Chine)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28953" y="1360686"/>
            <a:ext cx="11699631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Demande Devis de </a:t>
            </a:r>
            <a:r>
              <a:rPr lang="fr-FR" u="sng" dirty="0"/>
              <a:t>ReadOut FLEX 50µm + </a:t>
            </a:r>
            <a:r>
              <a:rPr lang="fr-FR" u="sng" dirty="0" err="1"/>
              <a:t>Stiffener</a:t>
            </a:r>
            <a:r>
              <a:rPr lang="fr-FR" u="sng" dirty="0"/>
              <a:t> 150µm</a:t>
            </a:r>
            <a:r>
              <a:rPr lang="fr-FR" dirty="0"/>
              <a:t>: </a:t>
            </a:r>
            <a:r>
              <a:rPr lang="fr-FR" dirty="0">
                <a:solidFill>
                  <a:srgbClr val="FF0000"/>
                </a:solidFill>
              </a:rPr>
              <a:t>ACCEPTEE mais présence de plis sur Flex à cause la grande taille et de la faible épaisseur du Flex.</a:t>
            </a:r>
          </a:p>
          <a:p>
            <a:r>
              <a:rPr lang="fr-FR" i="1" dirty="0"/>
              <a:t>Possibilité de diminuer les plis sur le </a:t>
            </a:r>
            <a:r>
              <a:rPr lang="fr-FR" i="1" dirty="0" err="1"/>
              <a:t>Stiffener</a:t>
            </a:r>
            <a:r>
              <a:rPr lang="fr-FR" i="1" dirty="0"/>
              <a:t> par une presse à vide chauffante ? Attente de confirmation d’IBE</a:t>
            </a:r>
          </a:p>
          <a:p>
            <a:r>
              <a:rPr lang="fr-FR" i="1" dirty="0"/>
              <a:t>      Réponse : Oui, l’utilisation de la presse à vide chauffante diminuera les plis…</a:t>
            </a:r>
          </a:p>
          <a:p>
            <a:endParaRPr lang="fr-FR" dirty="0"/>
          </a:p>
          <a:p>
            <a:pPr marL="742950" lvl="1" indent="-285750">
              <a:buFontTx/>
              <a:buChar char="-"/>
            </a:pPr>
            <a:r>
              <a:rPr lang="fr-FR" dirty="0"/>
              <a:t>Quantité: 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 err="1"/>
              <a:t>Polyimide</a:t>
            </a:r>
            <a:r>
              <a:rPr lang="fr-FR" dirty="0"/>
              <a:t> 50µm type </a:t>
            </a:r>
            <a:r>
              <a:rPr lang="fr-FR" dirty="0" err="1"/>
              <a:t>kapton</a:t>
            </a:r>
            <a:r>
              <a:rPr lang="fr-FR" dirty="0"/>
              <a:t> Dupont 8525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finie Top/Bot: 18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ENIG Pad-</a:t>
            </a:r>
            <a:r>
              <a:rPr lang="fr-FR" dirty="0" err="1"/>
              <a:t>Hirose</a:t>
            </a:r>
            <a:r>
              <a:rPr lang="fr-FR" dirty="0"/>
              <a:t> Connecteur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OSP</a:t>
            </a:r>
          </a:p>
          <a:p>
            <a:pPr marL="742950" lvl="1" indent="-285750">
              <a:buFontTx/>
              <a:buChar char="-"/>
            </a:pPr>
            <a:r>
              <a:rPr lang="fr-FR" dirty="0" err="1"/>
              <a:t>Stiffener</a:t>
            </a:r>
            <a:r>
              <a:rPr lang="fr-FR" dirty="0"/>
              <a:t> FR4 100 µm</a:t>
            </a:r>
          </a:p>
          <a:p>
            <a:endParaRPr lang="fr-FR" dirty="0"/>
          </a:p>
          <a:p>
            <a:r>
              <a:rPr lang="fr-FR" b="1" i="1" dirty="0"/>
              <a:t>Devis reçu, total 3185 €: commande à passer ? ?</a:t>
            </a:r>
          </a:p>
        </p:txBody>
      </p:sp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D9EFABDE-C312-40E7-A78B-AC8F874D73B2}"/>
              </a:ext>
            </a:extLst>
          </p:cNvPr>
          <p:cNvSpPr/>
          <p:nvPr/>
        </p:nvSpPr>
        <p:spPr>
          <a:xfrm rot="5400000">
            <a:off x="266370" y="2240214"/>
            <a:ext cx="211614" cy="205215"/>
          </a:xfrm>
          <a:prstGeom prst="bent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07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69124" y="35123"/>
            <a:ext cx="8534400" cy="1325563"/>
          </a:xfrm>
        </p:spPr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NCAB ( Bureau France-Usine Chine)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2752" y="1961257"/>
            <a:ext cx="11705494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/>
              <a:t>Demande READOUT FLEX-Lot 1: Commande n° 4001047488</a:t>
            </a:r>
          </a:p>
          <a:p>
            <a:endParaRPr lang="fr-FR" b="1" u="sng" dirty="0"/>
          </a:p>
          <a:p>
            <a:pPr marL="742950" lvl="1" indent="-285750">
              <a:buFontTx/>
              <a:buChar char="-"/>
            </a:pPr>
            <a:r>
              <a:rPr lang="fr-FR" dirty="0"/>
              <a:t>Livraison: Septembre 2024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Quantité: 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 err="1"/>
              <a:t>Polyimide</a:t>
            </a:r>
            <a:r>
              <a:rPr lang="fr-FR" dirty="0"/>
              <a:t> 50µm type Dupont </a:t>
            </a:r>
            <a:r>
              <a:rPr lang="fr-FR" dirty="0" err="1"/>
              <a:t>Pyralux</a:t>
            </a:r>
            <a:r>
              <a:rPr lang="fr-FR" dirty="0"/>
              <a:t> AP 7156 E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base: 9 µm (1/4 oz)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finie Top/Bot: 22,5/23,5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OSP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ENIG Pad-</a:t>
            </a:r>
            <a:r>
              <a:rPr lang="fr-FR" dirty="0" err="1"/>
              <a:t>Hirose</a:t>
            </a:r>
            <a:r>
              <a:rPr lang="fr-FR" dirty="0"/>
              <a:t> Connecteur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Présence de bord technique ( planche de travail )</a:t>
            </a:r>
          </a:p>
          <a:p>
            <a:pPr marL="742950" lvl="1" indent="-285750">
              <a:buFontTx/>
              <a:buChar char="-"/>
            </a:pPr>
            <a:endParaRPr lang="fr-FR" dirty="0"/>
          </a:p>
          <a:p>
            <a:r>
              <a:rPr lang="fr-FR" b="1" u="sng" dirty="0"/>
              <a:t>Résultat: </a:t>
            </a:r>
            <a:endParaRPr lang="fr-FR" dirty="0"/>
          </a:p>
          <a:p>
            <a:r>
              <a:rPr lang="fr-FR" dirty="0"/>
              <a:t>	- Présence de plis ++ </a:t>
            </a:r>
          </a:p>
          <a:p>
            <a:r>
              <a:rPr lang="fr-FR" dirty="0"/>
              <a:t>  	- Finition OSP non retiré chimiquement</a:t>
            </a:r>
          </a:p>
          <a:p>
            <a:r>
              <a:rPr lang="fr-FR" dirty="0"/>
              <a:t>	- Flex délicat à manipuler pour le </a:t>
            </a:r>
            <a:r>
              <a:rPr lang="fr-FR" dirty="0" err="1"/>
              <a:t>process</a:t>
            </a:r>
            <a:r>
              <a:rPr lang="fr-FR" dirty="0"/>
              <a:t> </a:t>
            </a:r>
            <a:r>
              <a:rPr lang="fr-FR" dirty="0" err="1"/>
              <a:t>bulk</a:t>
            </a:r>
            <a:r>
              <a:rPr lang="fr-FR" dirty="0"/>
              <a:t>: augmentation de plis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52752" y="1294027"/>
            <a:ext cx="117054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Demande initiale BUTTON PLATING ( cuivre base 9µm/ recharge pastille-via diamètre 800µm): </a:t>
            </a:r>
            <a:r>
              <a:rPr lang="fr-FR" dirty="0">
                <a:solidFill>
                  <a:srgbClr val="FF0000"/>
                </a:solidFill>
              </a:rPr>
              <a:t>ESSAIS</a:t>
            </a:r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ECHEC! ( Juillet 2024)</a:t>
            </a:r>
          </a:p>
        </p:txBody>
      </p:sp>
    </p:spTree>
    <p:extLst>
      <p:ext uri="{BB962C8B-B14F-4D97-AF65-F5344CB8AC3E}">
        <p14:creationId xmlns:p14="http://schemas.microsoft.com/office/powerpoint/2010/main" val="78001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69124" y="35123"/>
            <a:ext cx="8534400" cy="1325563"/>
          </a:xfrm>
        </p:spPr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NCAB ( Bureau France-Usine Chine)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28953" y="2559133"/>
            <a:ext cx="11727561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/>
              <a:t>Demande ReadOut PCB-RIGIDE ( refus « Oxyde Brun »):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Quantité: 10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FR4 Standard </a:t>
            </a:r>
            <a:r>
              <a:rPr lang="fr-FR" b="1" dirty="0"/>
              <a:t>100 ou 200µm</a:t>
            </a:r>
            <a:r>
              <a:rPr lang="fr-FR" dirty="0"/>
              <a:t>, Tg=170°C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Cuivre de base: 9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finie Top/Bot: 20/20 µm, à reconfirmer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Flash Gold Pad-</a:t>
            </a:r>
            <a:r>
              <a:rPr lang="fr-FR" dirty="0" err="1"/>
              <a:t>Hirose</a:t>
            </a:r>
            <a:r>
              <a:rPr lang="fr-FR" dirty="0"/>
              <a:t> Connecteur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OSP</a:t>
            </a:r>
          </a:p>
          <a:p>
            <a:pPr lvl="1"/>
            <a:endParaRPr lang="fr-FR" b="1" i="1" dirty="0"/>
          </a:p>
          <a:p>
            <a:r>
              <a:rPr lang="fr-FR" b="1" i="1" dirty="0"/>
              <a:t>Devis reçu, cout total 1810€ : commande à passer??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28954" y="1360686"/>
            <a:ext cx="117275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Demande FLEX 50µm + </a:t>
            </a:r>
            <a:r>
              <a:rPr lang="fr-FR" dirty="0" err="1"/>
              <a:t>Stiffener</a:t>
            </a:r>
            <a:r>
              <a:rPr lang="fr-FR" dirty="0"/>
              <a:t> 100µm: </a:t>
            </a:r>
            <a:r>
              <a:rPr lang="fr-FR" dirty="0">
                <a:solidFill>
                  <a:srgbClr val="FF0000"/>
                </a:solidFill>
              </a:rPr>
              <a:t>REFUSEE</a:t>
            </a:r>
            <a:r>
              <a:rPr lang="fr-FR" dirty="0"/>
              <a:t> car taille hors standard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28954" y="1959909"/>
            <a:ext cx="117275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Demande PCB-RIGIDE en 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Plating</a:t>
            </a:r>
            <a:r>
              <a:rPr lang="fr-FR" dirty="0"/>
              <a:t> ( Cuivre 9 µm) ? Plot </a:t>
            </a:r>
            <a:r>
              <a:rPr lang="fr-FR" dirty="0" err="1"/>
              <a:t>Bulk</a:t>
            </a:r>
            <a:r>
              <a:rPr lang="fr-FR" dirty="0"/>
              <a:t> = 1 mm, zone morte trop importante?? </a:t>
            </a:r>
          </a:p>
        </p:txBody>
      </p:sp>
    </p:spTree>
    <p:extLst>
      <p:ext uri="{BB962C8B-B14F-4D97-AF65-F5344CB8AC3E}">
        <p14:creationId xmlns:p14="http://schemas.microsoft.com/office/powerpoint/2010/main" val="4236636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26524" y="0"/>
            <a:ext cx="4454768" cy="1325563"/>
          </a:xfrm>
        </p:spPr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CERN ( Labo Rui)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2752" y="1416133"/>
            <a:ext cx="11926502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/>
              <a:t>Demande READOUT FLEX-Lot 1: Commande n° 4001044461</a:t>
            </a:r>
          </a:p>
          <a:p>
            <a:endParaRPr lang="fr-FR" b="1" u="sng" dirty="0"/>
          </a:p>
          <a:p>
            <a:pPr marL="742950" lvl="1" indent="-285750">
              <a:buFontTx/>
              <a:buChar char="-"/>
            </a:pPr>
            <a:r>
              <a:rPr lang="fr-FR" dirty="0"/>
              <a:t>Livraison: Juillet 2024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Quantité: 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 err="1"/>
              <a:t>Polyimide</a:t>
            </a:r>
            <a:r>
              <a:rPr lang="fr-FR" dirty="0"/>
              <a:t> 50µm type APICAL NP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base: 5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finie Top/Bot: 10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ENIG Pad-</a:t>
            </a:r>
            <a:r>
              <a:rPr lang="fr-FR" dirty="0" err="1"/>
              <a:t>Hirose</a:t>
            </a:r>
            <a:r>
              <a:rPr lang="fr-FR" dirty="0"/>
              <a:t> Connecteur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Présence de bord technique ( planche de travail )</a:t>
            </a:r>
          </a:p>
          <a:p>
            <a:pPr marL="742950" lvl="1" indent="-285750">
              <a:buFontTx/>
              <a:buChar char="-"/>
            </a:pPr>
            <a:endParaRPr lang="fr-FR" dirty="0"/>
          </a:p>
          <a:p>
            <a:r>
              <a:rPr lang="fr-FR" b="1" u="sng" dirty="0"/>
              <a:t>Résultat: </a:t>
            </a:r>
          </a:p>
          <a:p>
            <a:r>
              <a:rPr lang="fr-FR" dirty="0"/>
              <a:t>	- Présence de plis +</a:t>
            </a:r>
          </a:p>
          <a:p>
            <a:r>
              <a:rPr lang="fr-FR" dirty="0"/>
              <a:t>	- Flex délicat à manipuler pour le </a:t>
            </a:r>
            <a:r>
              <a:rPr lang="fr-FR" dirty="0" err="1"/>
              <a:t>process</a:t>
            </a:r>
            <a:r>
              <a:rPr lang="fr-FR" dirty="0"/>
              <a:t> </a:t>
            </a:r>
            <a:r>
              <a:rPr lang="fr-FR" dirty="0" err="1"/>
              <a:t>bulk</a:t>
            </a:r>
            <a:r>
              <a:rPr lang="fr-FR" dirty="0"/>
              <a:t>: augmentation de plis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8742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26524" y="0"/>
            <a:ext cx="4454768" cy="1325563"/>
          </a:xfrm>
        </p:spPr>
        <p:txBody>
          <a:bodyPr/>
          <a:lstStyle/>
          <a:p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CERN ( Labo Rui)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2752" y="1416133"/>
            <a:ext cx="11926502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/>
              <a:t>Demande Devis READOUT FLEX 50µm +</a:t>
            </a:r>
            <a:r>
              <a:rPr lang="fr-FR" b="1" u="sng" dirty="0" err="1"/>
              <a:t>Stiffener</a:t>
            </a:r>
            <a:r>
              <a:rPr lang="fr-FR" b="1" u="sng" dirty="0"/>
              <a:t> 150µm : ACCEPTEE </a:t>
            </a:r>
          </a:p>
          <a:p>
            <a:endParaRPr lang="fr-FR" b="1" u="sng" dirty="0"/>
          </a:p>
          <a:p>
            <a:pPr marL="742950" lvl="1" indent="-285750">
              <a:buFontTx/>
              <a:buChar char="-"/>
            </a:pPr>
            <a:r>
              <a:rPr lang="fr-FR" dirty="0"/>
              <a:t>Quantité: 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 err="1"/>
              <a:t>Polyimide</a:t>
            </a:r>
            <a:r>
              <a:rPr lang="fr-FR" dirty="0"/>
              <a:t> 50µm type APICAL NP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base: 5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finie Top/Bot: 10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Oxyde Brun sur ZA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ENIG Pad-</a:t>
            </a:r>
            <a:r>
              <a:rPr lang="fr-FR" dirty="0" err="1"/>
              <a:t>Hirose</a:t>
            </a:r>
            <a:r>
              <a:rPr lang="fr-FR" dirty="0"/>
              <a:t> Connecteur </a:t>
            </a:r>
          </a:p>
          <a:p>
            <a:pPr marL="742950" lvl="1" indent="-285750">
              <a:buFontTx/>
              <a:buChar char="-"/>
            </a:pPr>
            <a:r>
              <a:rPr lang="fr-FR" dirty="0" err="1"/>
              <a:t>Stiffener</a:t>
            </a:r>
            <a:r>
              <a:rPr lang="fr-FR" dirty="0"/>
              <a:t> FR4 100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Présence de bord technique ( planche de travail )</a:t>
            </a:r>
          </a:p>
          <a:p>
            <a:pPr marL="742950" lvl="1" indent="-285750">
              <a:buFontTx/>
              <a:buChar char="-"/>
            </a:pPr>
            <a:endParaRPr lang="fr-FR" dirty="0"/>
          </a:p>
          <a:p>
            <a:r>
              <a:rPr lang="fr-FR" b="1" dirty="0"/>
              <a:t>Devis reçu, Cout total: 8738 CHF: Commande à passer ??</a:t>
            </a:r>
          </a:p>
        </p:txBody>
      </p:sp>
    </p:spTree>
    <p:extLst>
      <p:ext uri="{BB962C8B-B14F-4D97-AF65-F5344CB8AC3E}">
        <p14:creationId xmlns:p14="http://schemas.microsoft.com/office/powerpoint/2010/main" val="352799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0186" y="0"/>
            <a:ext cx="8868507" cy="1325563"/>
          </a:xfrm>
        </p:spPr>
        <p:txBody>
          <a:bodyPr/>
          <a:lstStyle/>
          <a:p>
            <a:pPr algn="ctr"/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WURTH ELECTRONICS ( USINE CHINE)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2752" y="1416133"/>
            <a:ext cx="11617569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/>
              <a:t>Demande READOUT PCB-RIGIDE-Lot 1: Commande n° 4001064186</a:t>
            </a:r>
          </a:p>
          <a:p>
            <a:endParaRPr lang="fr-FR" b="1" u="sng" dirty="0"/>
          </a:p>
          <a:p>
            <a:pPr marL="742950" lvl="1" indent="-285750">
              <a:buFontTx/>
              <a:buChar char="-"/>
            </a:pPr>
            <a:r>
              <a:rPr lang="fr-FR" dirty="0"/>
              <a:t>Livraison: Janvier 2025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Quantité: 3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FR4 Standard 200µm, Tg=170°C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base: 12 µm (1/3 oz)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finie Top/Bot: 29/27 µm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ENIG Pad-</a:t>
            </a:r>
            <a:r>
              <a:rPr lang="fr-FR" dirty="0" err="1"/>
              <a:t>Hirose</a:t>
            </a:r>
            <a:r>
              <a:rPr lang="fr-FR" dirty="0"/>
              <a:t> Connecteur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OSP: 360nm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Oxyde Brun Top: Oublié! Demande Fabrication nouveau Lot ( avoir sur facture 50% prix du Lot1)</a:t>
            </a:r>
          </a:p>
          <a:p>
            <a:pPr marL="742950" lvl="1" indent="-285750">
              <a:buFontTx/>
              <a:buChar char="-"/>
            </a:pPr>
            <a:endParaRPr lang="fr-FR" dirty="0"/>
          </a:p>
          <a:p>
            <a:r>
              <a:rPr lang="fr-FR" b="1" u="sng" dirty="0"/>
              <a:t>Résultat: </a:t>
            </a:r>
          </a:p>
          <a:p>
            <a:r>
              <a:rPr lang="fr-FR" dirty="0"/>
              <a:t>	- Etat de surface sans défaut</a:t>
            </a:r>
          </a:p>
          <a:p>
            <a:r>
              <a:rPr lang="fr-FR" dirty="0"/>
              <a:t>	- Finition OSP retiré chimiquement: bain acide citrique 20% </a:t>
            </a:r>
          </a:p>
          <a:p>
            <a:r>
              <a:rPr lang="fr-FR" dirty="0"/>
              <a:t>	- PCB facile à manipuler pour le process bulk: succès !</a:t>
            </a:r>
          </a:p>
          <a:p>
            <a:pPr marL="742950" lvl="1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1772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2753" y="1416133"/>
            <a:ext cx="11922370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/>
              <a:t>Demande READOUT PCB-RIGIDE-Lot 2: Commande n° 4001073784</a:t>
            </a:r>
          </a:p>
          <a:p>
            <a:endParaRPr lang="fr-FR" b="1" u="sng" dirty="0"/>
          </a:p>
          <a:p>
            <a:pPr marL="742950" lvl="1" indent="-285750">
              <a:buFontTx/>
              <a:buChar char="-"/>
            </a:pPr>
            <a:r>
              <a:rPr lang="fr-FR" dirty="0"/>
              <a:t>Livraison: Mai 2025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Quantité: 3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FR4 Standard 200µm, Tg=170°C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base: 9 µm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finie Top/Bot: 30/30 µm (max)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ENIG Pad-</a:t>
            </a:r>
            <a:r>
              <a:rPr lang="fr-FR" dirty="0" err="1"/>
              <a:t>Hirose</a:t>
            </a:r>
            <a:r>
              <a:rPr lang="fr-FR" dirty="0"/>
              <a:t> Connecteur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</a:t>
            </a:r>
            <a:r>
              <a:rPr lang="fr-FR" dirty="0">
                <a:solidFill>
                  <a:srgbClr val="FF0000"/>
                </a:solidFill>
              </a:rPr>
              <a:t>Oxyde-Brun </a:t>
            </a:r>
            <a:r>
              <a:rPr lang="fr-FR" dirty="0"/>
              <a:t>TOP</a:t>
            </a:r>
          </a:p>
          <a:p>
            <a:pPr marL="742950" lvl="1" indent="-285750">
              <a:buFontTx/>
              <a:buChar char="-"/>
            </a:pPr>
            <a:endParaRPr lang="fr-FR" dirty="0"/>
          </a:p>
          <a:p>
            <a:r>
              <a:rPr lang="fr-FR" b="1" u="sng" dirty="0"/>
              <a:t>Résultat: </a:t>
            </a:r>
          </a:p>
          <a:p>
            <a:r>
              <a:rPr lang="fr-FR" dirty="0"/>
              <a:t>	</a:t>
            </a:r>
            <a:r>
              <a:rPr lang="fr-FR" dirty="0">
                <a:solidFill>
                  <a:srgbClr val="FF0000"/>
                </a:solidFill>
              </a:rPr>
              <a:t>-</a:t>
            </a:r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ECHEC!</a:t>
            </a:r>
            <a:r>
              <a:rPr lang="fr-FR" dirty="0"/>
              <a:t> Présence de trace ENIG sur tout le PCB ( x3) car le film sec endommagé:  </a:t>
            </a:r>
            <a:r>
              <a:rPr lang="fr-FR" dirty="0">
                <a:solidFill>
                  <a:srgbClr val="FF0000"/>
                </a:solidFill>
              </a:rPr>
              <a:t>Lot refusé par le CP ( avril 2025)</a:t>
            </a:r>
          </a:p>
          <a:p>
            <a:r>
              <a:rPr lang="fr-FR" dirty="0">
                <a:solidFill>
                  <a:srgbClr val="FF0000"/>
                </a:solidFill>
              </a:rPr>
              <a:t>	- Lancement nouveau sans surcout :  Colis reçu le 19/05/2025</a:t>
            </a:r>
          </a:p>
          <a:p>
            <a:r>
              <a:rPr lang="fr-FR" dirty="0">
                <a:solidFill>
                  <a:srgbClr val="FF0000"/>
                </a:solidFill>
              </a:rPr>
              <a:t>					  </a:t>
            </a:r>
            <a:r>
              <a:rPr lang="fr-FR" dirty="0"/>
              <a:t>Epaisseur Top/Bot: 26/28 µm </a:t>
            </a:r>
          </a:p>
          <a:p>
            <a:r>
              <a:rPr lang="fr-FR" dirty="0"/>
              <a:t>					  Finition ENIG Pads connecteurs</a:t>
            </a:r>
          </a:p>
          <a:p>
            <a:r>
              <a:rPr lang="fr-FR" dirty="0"/>
              <a:t>					  Finition Oxyde Brun sur ZA + grillage TOP/Bot + Piste…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770186" y="0"/>
            <a:ext cx="8868507" cy="1325563"/>
          </a:xfrm>
        </p:spPr>
        <p:txBody>
          <a:bodyPr/>
          <a:lstStyle/>
          <a:p>
            <a:pPr algn="ctr"/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WURTH ELECTRONICS ( USINE CHINE)</a:t>
            </a:r>
          </a:p>
        </p:txBody>
      </p:sp>
    </p:spTree>
    <p:extLst>
      <p:ext uri="{BB962C8B-B14F-4D97-AF65-F5344CB8AC3E}">
        <p14:creationId xmlns:p14="http://schemas.microsoft.com/office/powerpoint/2010/main" val="1122158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2753" y="1416133"/>
            <a:ext cx="11922370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/>
              <a:t>Demande READOUT PCB-RIGIDE-Lot 3: Commande n° 4001073784</a:t>
            </a:r>
          </a:p>
          <a:p>
            <a:endParaRPr lang="fr-FR" b="1" u="sng" dirty="0"/>
          </a:p>
          <a:p>
            <a:pPr marL="742950" lvl="1" indent="-285750">
              <a:buFontTx/>
              <a:buChar char="-"/>
            </a:pPr>
            <a:r>
              <a:rPr lang="fr-FR" dirty="0"/>
              <a:t>Livraison: septembre 2025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Quantité: 3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FR4 Standard 200µm, Tg=170°C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base: 18 µm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finie Top/Bot: 18/18 µm (max)// </a:t>
            </a:r>
            <a:r>
              <a:rPr lang="fr-FR" b="1" dirty="0">
                <a:solidFill>
                  <a:srgbClr val="FF0000"/>
                </a:solidFill>
              </a:rPr>
              <a:t>Button </a:t>
            </a:r>
            <a:r>
              <a:rPr lang="fr-FR" b="1" dirty="0" err="1">
                <a:solidFill>
                  <a:srgbClr val="FF0000"/>
                </a:solidFill>
              </a:rPr>
              <a:t>Plating</a:t>
            </a:r>
            <a:endParaRPr lang="fr-FR" b="1" dirty="0">
              <a:solidFill>
                <a:srgbClr val="FF0000"/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fr-FR" dirty="0"/>
              <a:t>Finition ENIG Pad-</a:t>
            </a:r>
            <a:r>
              <a:rPr lang="fr-FR" dirty="0" err="1"/>
              <a:t>Hirose</a:t>
            </a:r>
            <a:r>
              <a:rPr lang="fr-FR" dirty="0"/>
              <a:t> Connecteur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</a:t>
            </a:r>
            <a:r>
              <a:rPr lang="fr-FR" dirty="0">
                <a:solidFill>
                  <a:srgbClr val="FF0000"/>
                </a:solidFill>
              </a:rPr>
              <a:t>Oxyde-Brun </a:t>
            </a:r>
            <a:r>
              <a:rPr lang="fr-FR" dirty="0"/>
              <a:t>TOP</a:t>
            </a:r>
          </a:p>
          <a:p>
            <a:pPr marL="742950" lvl="1" indent="-285750">
              <a:buFontTx/>
              <a:buChar char="-"/>
            </a:pPr>
            <a:endParaRPr lang="fr-FR" dirty="0"/>
          </a:p>
          <a:p>
            <a:r>
              <a:rPr lang="fr-FR" b="1" u="sng" dirty="0"/>
              <a:t>Résultat: </a:t>
            </a:r>
          </a:p>
          <a:p>
            <a:r>
              <a:rPr lang="fr-FR" dirty="0"/>
              <a:t>	Epaisseur Top/Bot: </a:t>
            </a:r>
            <a:r>
              <a:rPr lang="fr-FR" b="1" dirty="0"/>
              <a:t>15/13 µm </a:t>
            </a:r>
          </a:p>
          <a:p>
            <a:r>
              <a:rPr lang="fr-FR" dirty="0"/>
              <a:t>	Finition ENIG Pads connecteurs</a:t>
            </a:r>
          </a:p>
          <a:p>
            <a:r>
              <a:rPr lang="fr-FR" dirty="0"/>
              <a:t>	Finition Oxyde Brun sur ZA + grillage TOP/Bot + Piste…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770186" y="0"/>
            <a:ext cx="8868507" cy="1325563"/>
          </a:xfrm>
        </p:spPr>
        <p:txBody>
          <a:bodyPr/>
          <a:lstStyle/>
          <a:p>
            <a:pPr algn="ctr"/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WURTH ELECTRONICS ( USINE CHINE)</a:t>
            </a:r>
          </a:p>
        </p:txBody>
      </p:sp>
    </p:spTree>
    <p:extLst>
      <p:ext uri="{BB962C8B-B14F-4D97-AF65-F5344CB8AC3E}">
        <p14:creationId xmlns:p14="http://schemas.microsoft.com/office/powerpoint/2010/main" val="4041144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34815" y="1244100"/>
            <a:ext cx="11922370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/>
              <a:t>Demande READOUT PCB-RIGIDE-Lot 4: Commande n° 4001110956</a:t>
            </a:r>
          </a:p>
          <a:p>
            <a:endParaRPr lang="fr-FR" b="1" u="sng" dirty="0"/>
          </a:p>
          <a:p>
            <a:pPr marL="742950" lvl="1" indent="-285750">
              <a:buFontTx/>
              <a:buChar char="-"/>
            </a:pPr>
            <a:r>
              <a:rPr lang="fr-FR" dirty="0"/>
              <a:t>Livraison: 24/04/2026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Quantité: 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FR4 Standard 200 µm, Tg=180°C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base: 18 µm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finie Top/Bot: 25/25 µm (max)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Finition ENIG Pad-</a:t>
            </a:r>
            <a:r>
              <a:rPr lang="fr-FR" dirty="0" err="1"/>
              <a:t>Hirose</a:t>
            </a:r>
            <a:r>
              <a:rPr lang="fr-FR" dirty="0"/>
              <a:t> Connecteur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Ajout bord technique pour faciliter la mise en bulk</a:t>
            </a:r>
          </a:p>
          <a:p>
            <a:endParaRPr lang="fr-FR" b="1" u="sng" dirty="0"/>
          </a:p>
          <a:p>
            <a:r>
              <a:rPr lang="fr-FR" b="1" u="sng" dirty="0"/>
              <a:t>Résultat</a:t>
            </a:r>
            <a:r>
              <a:rPr lang="fr-FR" b="1" dirty="0"/>
              <a:t>:  </a:t>
            </a:r>
            <a:r>
              <a:rPr lang="fr-FR" dirty="0"/>
              <a:t>Epaisseur Cuivre Finie Top/Bot: </a:t>
            </a:r>
            <a:r>
              <a:rPr lang="fr-FR" b="1" dirty="0"/>
              <a:t>15/17 µm </a:t>
            </a:r>
          </a:p>
          <a:p>
            <a:r>
              <a:rPr lang="fr-FR" dirty="0"/>
              <a:t>	Finition ENIG Pads connecteurs</a:t>
            </a:r>
          </a:p>
          <a:p>
            <a:r>
              <a:rPr lang="fr-FR" dirty="0"/>
              <a:t>	</a:t>
            </a:r>
            <a:endParaRPr lang="fr-FR" b="1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770186" y="0"/>
            <a:ext cx="8868507" cy="1325563"/>
          </a:xfrm>
        </p:spPr>
        <p:txBody>
          <a:bodyPr/>
          <a:lstStyle/>
          <a:p>
            <a:pPr algn="ctr"/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WURTH ELECTRONICS ( USINE CHINE)</a:t>
            </a:r>
          </a:p>
        </p:txBody>
      </p:sp>
    </p:spTree>
    <p:extLst>
      <p:ext uri="{BB962C8B-B14F-4D97-AF65-F5344CB8AC3E}">
        <p14:creationId xmlns:p14="http://schemas.microsoft.com/office/powerpoint/2010/main" val="488160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34815" y="1244100"/>
            <a:ext cx="1192237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/>
              <a:t>Demande READOUT PCB-RIGIDE-DUMMY-Lot 5: Commande n° 4001111001</a:t>
            </a:r>
          </a:p>
          <a:p>
            <a:endParaRPr lang="fr-FR" b="1" u="sng" dirty="0"/>
          </a:p>
          <a:p>
            <a:pPr marL="742950" lvl="1" indent="-285750">
              <a:buFontTx/>
              <a:buChar char="-"/>
            </a:pPr>
            <a:r>
              <a:rPr lang="fr-FR" dirty="0"/>
              <a:t>Livraison: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Quantité: 5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2 couches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FR4 Standard 200µm, Tg=180°C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Epaisseur cuivre base: 18 µm 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Ajout bord technique pour faciliter la mise en bulk</a:t>
            </a:r>
          </a:p>
          <a:p>
            <a:endParaRPr lang="fr-FR" b="1" u="sng" dirty="0"/>
          </a:p>
          <a:p>
            <a:r>
              <a:rPr lang="fr-FR" b="1" u="sng" dirty="0"/>
              <a:t>Résultat</a:t>
            </a:r>
            <a:r>
              <a:rPr lang="fr-FR" b="1"/>
              <a:t>: </a:t>
            </a:r>
            <a:r>
              <a:rPr lang="fr-FR"/>
              <a:t>Epaisseur Cuivre Finie Top/Bot: </a:t>
            </a:r>
            <a:r>
              <a:rPr lang="fr-FR" b="1"/>
              <a:t>18/18 µm </a:t>
            </a:r>
            <a:r>
              <a:rPr lang="fr-FR" dirty="0"/>
              <a:t>	</a:t>
            </a:r>
            <a:endParaRPr lang="fr-FR" b="1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770186" y="0"/>
            <a:ext cx="8868507" cy="1325563"/>
          </a:xfrm>
        </p:spPr>
        <p:txBody>
          <a:bodyPr/>
          <a:lstStyle/>
          <a:p>
            <a:pPr algn="ctr"/>
            <a:r>
              <a:rPr lang="fr-FR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WURTH ELECTRONICS ( USINE CHINE)</a:t>
            </a:r>
          </a:p>
        </p:txBody>
      </p:sp>
    </p:spTree>
    <p:extLst>
      <p:ext uri="{BB962C8B-B14F-4D97-AF65-F5344CB8AC3E}">
        <p14:creationId xmlns:p14="http://schemas.microsoft.com/office/powerpoint/2010/main" val="11060881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1085</Words>
  <Application>Microsoft Office PowerPoint</Application>
  <PresentationFormat>Grand écran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Thème Office</vt:lpstr>
      <vt:lpstr>Présentation PowerPoint</vt:lpstr>
      <vt:lpstr>IBE-ELECTRONICS ( Société CHINE- Usine Chine)</vt:lpstr>
      <vt:lpstr>IBE-ELECTRONICS ( Société CHINE- Usine Chine)</vt:lpstr>
      <vt:lpstr>NCAB ( Bureau France-Usine Chine)</vt:lpstr>
      <vt:lpstr>NCAB ( Bureau France-Usine Chine)</vt:lpstr>
      <vt:lpstr>CERN ( Labo Rui)</vt:lpstr>
      <vt:lpstr>CERN ( Labo Rui)</vt:lpstr>
      <vt:lpstr>WURTH ELECTRONICS ( USINE CHINE)</vt:lpstr>
      <vt:lpstr>WURTH ELECTRONICS ( USINE CHINE)</vt:lpstr>
      <vt:lpstr>WURTH ELECTRONICS ( USINE CHINE)</vt:lpstr>
      <vt:lpstr>WURTH ELECTRONICS ( USINE CHINE)</vt:lpstr>
      <vt:lpstr>WURTH ELECTRONICS ( USINE CHINE)</vt:lpstr>
    </vt:vector>
  </TitlesOfParts>
  <Company>CEA Saclay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KEBBIRI Mariam</dc:creator>
  <cp:lastModifiedBy>KEBBIRI Mariam</cp:lastModifiedBy>
  <cp:revision>70</cp:revision>
  <dcterms:created xsi:type="dcterms:W3CDTF">2025-04-03T13:24:42Z</dcterms:created>
  <dcterms:modified xsi:type="dcterms:W3CDTF">2026-04-22T10:14:44Z</dcterms:modified>
</cp:coreProperties>
</file>