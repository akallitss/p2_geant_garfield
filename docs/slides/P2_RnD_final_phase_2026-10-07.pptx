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>
                <a:solidFill>
                  <a:srgbClr val="202020"/>
                </a:solidFill>
              </a:defRPr>
            </a:pPr>
            <a:r>
              <a:t>P2 Micromegas — final R&amp;D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>
                <a:solidFill>
                  <a:srgbClr val="202020"/>
                </a:solidFill>
              </a:defRPr>
            </a:pPr>
            <a:r>
              <a:t>Gain recovery tests, simulation campaign, new bulks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02020"/>
                </a:solidFill>
              </a:defRPr>
            </a:pPr>
            <a:r>
              <a:t>Alexandra Kallitsopoulou · CEA Saclay · 7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020"/>
                </a:solidFill>
              </a:defRPr>
            </a:pPr>
            <a:r>
              <a:t>Why: VMM loses the low-gain part of the chamber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02020"/>
                </a:solidFill>
              </a:defRPr>
            </a:pPr>
            <a:r>
              <a:t>• SPS July 2026, same pads, same beam:</a:t>
            </a:r>
          </a:p>
          <a:p>
            <a:pPr lvl="1">
              <a:spcAft>
                <a:spcPts val="400"/>
              </a:spcAft>
              <a:defRPr sz="1400">
                <a:solidFill>
                  <a:srgbClr val="707070"/>
                </a:solidFill>
              </a:defRPr>
            </a:pPr>
            <a:r>
              <a:t>– DREAM 95.6 %, VMM 85.3 %</a:t>
            </a:r>
          </a:p>
          <a:p>
            <a:pPr>
              <a:spcAft>
                <a:spcPts val="400"/>
              </a:spcAft>
              <a:defRPr sz="1800">
                <a:solidFill>
                  <a:srgbClr val="202020"/>
                </a:solidFill>
              </a:defRPr>
            </a:pPr>
            <a:r>
              <a:t>• The chamber gain varies by ×3.9 across the surface (non-planarity: drift gap and PCB bending)</a:t>
            </a:r>
          </a:p>
          <a:p>
            <a:pPr>
              <a:spcAft>
                <a:spcPts val="400"/>
              </a:spcAft>
              <a:defRPr sz="1800">
                <a:solidFill>
                  <a:srgbClr val="202020"/>
                </a:solidFill>
              </a:defRPr>
            </a:pPr>
            <a:r>
              <a:t>• Low-gain pads fall under the VMM threshold → lost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b="1" sz="1800">
                <a:solidFill>
                  <a:srgbClr val="202020"/>
                </a:solidFill>
              </a:defRPr>
            </a:pPr>
            <a:r>
              <a:t>Plan: raise the gain and make it less sensitive to the gap</a:t>
            </a:r>
          </a:p>
          <a:p>
            <a:pPr>
              <a:spcAft>
                <a:spcPts val="400"/>
              </a:spcAft>
              <a:defRPr sz="1800">
                <a:solidFill>
                  <a:srgbClr val="202020"/>
                </a:solidFill>
              </a:defRPr>
            </a:pPr>
            <a:r>
              <a:t>• Larger isobutane fraction (Ar/iso 95/5 → 90/10)</a:t>
            </a:r>
          </a:p>
          <a:p>
            <a:pPr>
              <a:spcAft>
                <a:spcPts val="400"/>
              </a:spcAft>
              <a:defRPr sz="1800">
                <a:solidFill>
                  <a:srgbClr val="202020"/>
                </a:solidFill>
              </a:defRPr>
            </a:pPr>
            <a:r>
              <a:t>• Larger drift gap (4 → 5 mm)</a:t>
            </a:r>
          </a:p>
          <a:p>
            <a:pPr>
              <a:spcAft>
                <a:spcPts val="400"/>
              </a:spcAft>
              <a:defRPr sz="1800">
                <a:solidFill>
                  <a:srgbClr val="202020"/>
                </a:solidFill>
              </a:defRPr>
            </a:pPr>
            <a:r>
              <a:t>• Possibly other mixtures (Ne/iso 95/5, 85/15)</a:t>
            </a:r>
          </a:p>
          <a:p>
            <a:pPr>
              <a:spcAft>
                <a:spcPts val="400"/>
              </a:spcAft>
              <a:defRPr sz="1800">
                <a:solidFill>
                  <a:srgbClr val="202020"/>
                </a:solidFill>
              </a:defRPr>
            </a:pPr>
            <a:r>
              <a:t>• Measure the effect with the VMM electronics</a:t>
            </a:r>
          </a:p>
        </p:txBody>
      </p:sp>
      <p:pic>
        <p:nvPicPr>
          <p:cNvPr id="4" name="Picture 3" descr="vmm_vs_dream_g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63040"/>
            <a:ext cx="6035040" cy="33971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020"/>
                </a:solidFill>
              </a:defRPr>
            </a:pPr>
            <a:r>
              <a:t>Simulation campaign: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For each gas (Ar/iso 95/5, 90/10 · Ne/iso 95/5, 85/15) and drift gap (4, 5 mm):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b="1" sz="1900">
                <a:solidFill>
                  <a:srgbClr val="202020"/>
                </a:solidFill>
              </a:defRPr>
            </a:pPr>
            <a:r>
              <a:t>1. Gain and signal</a:t>
            </a:r>
          </a:p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• Gain vs mesh voltage, and how much it changes with the local gap</a:t>
            </a:r>
          </a:p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• Primary electrons per muon → charge on the pad → VMM efficiency (gain 3.0 / 4.5 mV/fC, 100 / 200 ns)</a:t>
            </a:r>
          </a:p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• Check against the SPS data (DREAM and VMM)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b="1" sz="1900">
                <a:solidFill>
                  <a:srgbClr val="202020"/>
                </a:solidFill>
              </a:defRPr>
            </a:pPr>
            <a:r>
              <a:t>2. Background</a:t>
            </a:r>
          </a:p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• Photons 40–100 keV: probability of ≥ 1 primary, Ne vs Ar</a:t>
            </a:r>
          </a:p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• Event-by-event deposits: photons vs 100 MeV electrons → upper ADC cut</a:t>
            </a:r>
          </a:p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• Weighted with Matthieu's background spectra (P2Sim) → rates per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020"/>
                </a:solidFill>
              </a:defRPr>
            </a:pPr>
            <a:r>
              <a:t>What Geant4 + Garfield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b="1" sz="1900">
                <a:solidFill>
                  <a:srgbClr val="202020"/>
                </a:solidFill>
              </a:defRPr>
            </a:pPr>
            <a:r>
              <a:t>Geant4 (energy deposits)</a:t>
            </a:r>
          </a:p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• Detector geometry from the design files ✓</a:t>
            </a:r>
          </a:p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• Pillar map ✓</a:t>
            </a:r>
          </a:p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• Gases with correct composition ✓</a:t>
            </a:r>
          </a:p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• Particles: 150 GeV μ (SPS), 100 MeV e⁻, photons 10–150 keV ✓</a:t>
            </a:r>
          </a:p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• Background spectra and directions (Matthieu)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b="1" sz="1900">
                <a:solidFill>
                  <a:srgbClr val="202020"/>
                </a:solidFill>
              </a:defRPr>
            </a:pPr>
            <a:r>
              <a:t>Garfield++ (charges and signals)</a:t>
            </a:r>
          </a:p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• Gas tables (Magboltz) per mixture: drift velocity, diffusion, attachment, Townsend coefficient</a:t>
            </a:r>
          </a:p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• Penning transfer rate per mixture (from measured gain curves)</a:t>
            </a:r>
          </a:p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• Fields: drift and 150 µm amplification gap, mesh / drift voltages</a:t>
            </a:r>
          </a:p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• Signal: pad weighting field → induced current</a:t>
            </a:r>
          </a:p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• VMM shaper transfer function ✓ (Iakovidis et al.)</a:t>
            </a:r>
          </a:p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• Measured gain curves (SPS HV scans) to calibrate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020"/>
                </a:solidFill>
              </a:defRPr>
            </a:pPr>
            <a:r>
              <a:t>Basic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852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02020"/>
                </a:solidFill>
              </a:defRPr>
            </a:pPr>
            <a:r>
              <a:t>1.  Geant4: μ / e⁻ / γ through the P2 wedge → ionization clusters in the gas   ✓</a:t>
            </a:r>
          </a:p>
          <a:p>
            <a:pPr>
              <a:spcAft>
                <a:spcPts val="400"/>
              </a:spcAft>
              <a:defRPr sz="1600">
                <a:solidFill>
                  <a:srgbClr val="202020"/>
                </a:solidFill>
              </a:defRPr>
            </a:pPr>
            <a:r>
              <a:t>2.  Magboltz: gas tables for each mixture   → next</a:t>
            </a:r>
          </a:p>
          <a:p>
            <a:pPr>
              <a:spcAft>
                <a:spcPts val="400"/>
              </a:spcAft>
              <a:defRPr sz="1600">
                <a:solidFill>
                  <a:srgbClr val="202020"/>
                </a:solidFill>
              </a:defRPr>
            </a:pPr>
            <a:r>
              <a:t>3.  Drift to the mesh: diffusion, attachment, transparency</a:t>
            </a:r>
          </a:p>
          <a:p>
            <a:pPr>
              <a:spcAft>
                <a:spcPts val="400"/>
              </a:spcAft>
              <a:defRPr sz="1600">
                <a:solidFill>
                  <a:srgbClr val="202020"/>
                </a:solidFill>
              </a:defRPr>
            </a:pPr>
            <a:r>
              <a:t>4.  Avalanche: gain vs mesh voltage, calibrated on the SPS HV scans</a:t>
            </a:r>
          </a:p>
          <a:p>
            <a:pPr>
              <a:spcAft>
                <a:spcPts val="400"/>
              </a:spcAft>
              <a:defRPr sz="1600">
                <a:solidFill>
                  <a:srgbClr val="202020"/>
                </a:solidFill>
              </a:defRPr>
            </a:pPr>
            <a:r>
              <a:t>5.  Signal on the pad → VMM shaper → amplitude, time, threshold</a:t>
            </a:r>
          </a:p>
          <a:p>
            <a:pPr>
              <a:spcAft>
                <a:spcPts val="400"/>
              </a:spcAft>
              <a:defRPr sz="1600">
                <a:solidFill>
                  <a:srgbClr val="202020"/>
                </a:solidFill>
              </a:defRPr>
            </a:pPr>
            <a:r>
              <a:t>6.  Compare with SPS data, then predict 90/10, 5 mm, Ne</a:t>
            </a:r>
          </a:p>
          <a:p>
            <a:pPr>
              <a:spcAft>
                <a:spcPts val="400"/>
              </a:spcAft>
              <a:defRPr sz="1600">
                <a:solidFill>
                  <a:srgbClr val="202020"/>
                </a:solidFill>
              </a:defRPr>
            </a:pPr>
            <a:r>
              <a:t>7.  Background: photon runs × P2Sim spectra → e/γ separation, ADC cut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0" y="1371600"/>
            <a:ext cx="31089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202020"/>
                </a:solidFill>
              </a:defRPr>
            </a:pPr>
            <a:r>
              <a:t>Stage A · Geant4</a:t>
            </a:r>
          </a:p>
          <a:p>
            <a:pPr>
              <a:defRPr sz="1200">
                <a:solidFill>
                  <a:srgbClr val="202020"/>
                </a:solidFill>
              </a:defRPr>
            </a:pPr>
            <a:r>
              <a:t>particle through the wedge → ionization clusters (position, time, primaries)  [step 1]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3017520"/>
            <a:ext cx="31089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202020"/>
                </a:solidFill>
              </a:defRPr>
            </a:pPr>
            <a:r>
              <a:t>Stage B · Digitizer</a:t>
            </a:r>
          </a:p>
          <a:p>
            <a:pPr>
              <a:defRPr sz="1200">
                <a:solidFill>
                  <a:srgbClr val="202020"/>
                </a:solidFill>
              </a:defRPr>
            </a:pPr>
            <a:r>
              <a:t>drift → diffusion → attachment → transparency → gain → pad  [steps 3–4]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4663440"/>
            <a:ext cx="31089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202020"/>
                </a:solidFill>
              </a:defRPr>
            </a:pPr>
            <a:r>
              <a:t>Stage C · VMM3a</a:t>
            </a:r>
          </a:p>
          <a:p>
            <a:pPr>
              <a:defRPr sz="1200">
                <a:solidFill>
                  <a:srgbClr val="202020"/>
                </a:solidFill>
              </a:defRPr>
            </a:pPr>
            <a:r>
              <a:t>shaper (Iakovidis) → threshold → amplitude, time  [step 5]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0" y="2514600"/>
            <a:ext cx="0" cy="502920"/>
          </a:xfrm>
          <a:prstGeom prst="line">
            <a:avLst/>
          </a:prstGeom>
          <a:ln w="25400">
            <a:solidFill>
              <a:srgbClr val="7070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229600" y="4160520"/>
            <a:ext cx="0" cy="502920"/>
          </a:xfrm>
          <a:prstGeom prst="line">
            <a:avLst/>
          </a:prstGeom>
          <a:ln w="25400">
            <a:solidFill>
              <a:srgbClr val="7070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0104120" y="2743200"/>
            <a:ext cx="1828800" cy="2194560"/>
          </a:xfrm>
          <a:prstGeom prst="rect">
            <a:avLst/>
          </a:prstGeom>
          <a:solidFill>
            <a:srgbClr val="EEEEEE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202020"/>
                </a:solidFill>
              </a:defRPr>
            </a:pPr>
            <a:r>
              <a:t>Garfield++</a:t>
            </a:r>
          </a:p>
          <a:p>
            <a:pPr>
              <a:defRPr sz="1200">
                <a:solidFill>
                  <a:srgbClr val="202020"/>
                </a:solidFill>
              </a:defRPr>
            </a:pPr>
            <a:r>
              <a:t>gas tables (Magboltz) · avalanche gain · pad signal  [steps 2, 4, 5]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9784080" y="3593592"/>
            <a:ext cx="320040" cy="246888"/>
          </a:xfrm>
          <a:prstGeom prst="line">
            <a:avLst/>
          </a:prstGeom>
          <a:ln w="25400">
            <a:solidFill>
              <a:srgbClr val="7070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784080" y="4389120"/>
            <a:ext cx="320040" cy="640080"/>
          </a:xfrm>
          <a:prstGeom prst="line">
            <a:avLst/>
          </a:prstGeom>
          <a:ln w="25400">
            <a:solidFill>
              <a:srgbClr val="7070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020"/>
                </a:solidFill>
              </a:defRPr>
            </a:pPr>
            <a:r>
              <a:t>Background estimation (Matthieu, P2Sim)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• Full P2 setup: photon rates and spectra at each Micromegas layer</a:t>
            </a:r>
          </a:p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• ~65 % of the photons at 40–100 keV, mostly within 30° of the normal</a:t>
            </a:r>
          </a:p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• Soft photons (&lt; 20 keV) from the chamber wall: small flux, but half the detected rate in the first layer; stopped by its readout plane</a:t>
            </a:r>
          </a:p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• Our campaign uses these spectra as input: response per photon from our detailed detector simulation × his rates</a:t>
            </a:r>
          </a:p>
          <a:p>
            <a:pPr>
              <a:spcAft>
                <a:spcPts val="400"/>
              </a:spcAft>
              <a:defRPr sz="1900">
                <a:solidFill>
                  <a:srgbClr val="202020"/>
                </a:solidFill>
              </a:defRPr>
            </a:pPr>
            <a:r>
              <a:t>• Geometries compared layer by layer; differences to align: mesh pitch, amplification gap, readout copper thickness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020"/>
                </a:solidFill>
              </a:defRPr>
            </a:pPr>
            <a:r>
              <a:t>In parallel: new bulks in the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b="1" sz="1800">
                <a:solidFill>
                  <a:srgbClr val="202020"/>
                </a:solidFill>
              </a:defRPr>
            </a:pPr>
            <a:r>
              <a:t>New insulation masks (V3B_final)</a:t>
            </a:r>
          </a:p>
          <a:p>
            <a:pPr>
              <a:spcAft>
                <a:spcPts val="400"/>
              </a:spcAft>
              <a:defRPr sz="1800">
                <a:solidFill>
                  <a:srgbClr val="202020"/>
                </a:solidFill>
              </a:defRPr>
            </a:pPr>
            <a:r>
              <a:t>• Pillars Ø 0.5 mm everywhere</a:t>
            </a:r>
          </a:p>
          <a:p>
            <a:pPr>
              <a:spcAft>
                <a:spcPts val="400"/>
              </a:spcAft>
              <a:defRPr sz="1800">
                <a:solidFill>
                  <a:srgbClr val="202020"/>
                </a:solidFill>
              </a:defRPr>
            </a:pPr>
            <a:r>
              <a:t>• 5 zones, pitch 2.0 mm (CERN reference) to 5.9 mm</a:t>
            </a:r>
          </a:p>
          <a:p>
            <a:pPr>
              <a:spcAft>
                <a:spcPts val="400"/>
              </a:spcAft>
              <a:defRPr sz="1800">
                <a:solidFill>
                  <a:srgbClr val="202020"/>
                </a:solidFill>
              </a:defRPr>
            </a:pPr>
            <a:r>
              <a:t>• Dead area 2.3–6.5 % per zone, 3.5 % overall</a:t>
            </a:r>
          </a:p>
          <a:p>
            <a:pPr>
              <a:spcAft>
                <a:spcPts val="400"/>
              </a:spcAft>
              <a:defRPr sz="1800">
                <a:solidFill>
                  <a:srgbClr val="202020"/>
                </a:solidFill>
              </a:defRPr>
            </a:pPr>
            <a:r>
              <a:t>• Test the efficiency per zone → choose the production pitch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b="1" sz="1800">
                <a:solidFill>
                  <a:srgbClr val="202020"/>
                </a:solidFill>
              </a:defRPr>
            </a:pPr>
            <a:r>
              <a:t>PCBs with pillars</a:t>
            </a:r>
          </a:p>
          <a:p>
            <a:pPr>
              <a:spcAft>
                <a:spcPts val="400"/>
              </a:spcAft>
              <a:defRPr sz="1800">
                <a:solidFill>
                  <a:srgbClr val="202020"/>
                </a:solidFill>
              </a:defRPr>
            </a:pPr>
            <a:r>
              <a:t>• Mesh glued, no lamination: needs gluing tooling</a:t>
            </a:r>
          </a:p>
          <a:p>
            <a:pPr>
              <a:spcAft>
                <a:spcPts val="400"/>
              </a:spcAft>
              <a:defRPr sz="1800">
                <a:solidFill>
                  <a:srgbClr val="202020"/>
                </a:solidFill>
              </a:defRPr>
            </a:pPr>
            <a:r>
              <a:t>• Compare pre-stressed mesh (CERN supplier) vs standard</a:t>
            </a:r>
          </a:p>
        </p:txBody>
      </p:sp>
      <p:pic>
        <p:nvPicPr>
          <p:cNvPr id="4" name="Picture 3" descr="P2_BASKET-Mask_M2_V3B_final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957268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